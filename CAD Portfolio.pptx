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8DDCA-F083-46C7-B0DF-98C95E866190}" v="1" dt="2026-09-25T05:22:35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703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microsoft.com/office/2015/10/relationships/revisionInfo" Target="revisionInfo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camese, Anthony Joseph Jr." userId="9c71d281-63a9-466e-b6f3-66cf3879ee06" providerId="ADAL" clId="{05B950C9-FDB7-3938-9AC5-F15EF4AD8902}"/>
    <pc:docChg chg="undo custSel modSld">
      <pc:chgData name="Cacamese, Anthony Joseph Jr." userId="9c71d281-63a9-466e-b6f3-66cf3879ee06" providerId="ADAL" clId="{05B950C9-FDB7-3938-9AC5-F15EF4AD8902}" dt="2026-09-25T05:48:39.464" v="14" actId="688"/>
      <pc:docMkLst>
        <pc:docMk/>
      </pc:docMkLst>
      <pc:sldChg chg="addSp modSp mod">
        <pc:chgData name="Cacamese, Anthony Joseph Jr." userId="9c71d281-63a9-466e-b6f3-66cf3879ee06" providerId="ADAL" clId="{05B950C9-FDB7-3938-9AC5-F15EF4AD8902}" dt="2026-09-25T05:48:39.464" v="14" actId="688"/>
        <pc:sldMkLst>
          <pc:docMk/>
          <pc:sldMk cId="1921399451" sldId="262"/>
        </pc:sldMkLst>
        <pc:picChg chg="add mod modCrop">
          <ac:chgData name="Cacamese, Anthony Joseph Jr." userId="9c71d281-63a9-466e-b6f3-66cf3879ee06" providerId="ADAL" clId="{05B950C9-FDB7-3938-9AC5-F15EF4AD8902}" dt="2026-09-25T05:48:39.464" v="14" actId="688"/>
          <ac:picMkLst>
            <pc:docMk/>
            <pc:sldMk cId="1921399451" sldId="262"/>
            <ac:picMk id="2" creationId="{503E85F2-9729-A84A-2736-2AA12F189608}"/>
          </ac:picMkLst>
        </pc:picChg>
      </pc:sldChg>
    </pc:docChg>
  </pc:docChgLst>
  <pc:docChgLst>
    <pc:chgData name="Cacamese, Anthony Joseph Jr." userId="9c71d281-63a9-466e-b6f3-66cf3879ee06" providerId="ADAL" clId="{96E4D831-604E-4352-93DB-4109B488C998}"/>
    <pc:docChg chg="modSld sldOrd">
      <pc:chgData name="Cacamese, Anthony Joseph Jr." userId="9c71d281-63a9-466e-b6f3-66cf3879ee06" providerId="ADAL" clId="{96E4D831-604E-4352-93DB-4109B488C998}" dt="2026-09-25T05:40:22.623" v="9"/>
      <pc:docMkLst>
        <pc:docMk/>
      </pc:docMkLst>
      <pc:sldChg chg="addSp delSp modSp">
        <pc:chgData name="Cacamese, Anthony Joseph Jr." userId="9c71d281-63a9-466e-b6f3-66cf3879ee06" providerId="ADAL" clId="{96E4D831-604E-4352-93DB-4109B488C998}" dt="2026-09-25T05:22:36.055" v="1"/>
        <pc:sldMkLst>
          <pc:docMk/>
          <pc:sldMk cId="1921399451" sldId="262"/>
        </pc:sldMkLst>
        <pc:spChg chg="add del mod">
          <ac:chgData name="Cacamese, Anthony Joseph Jr." userId="9c71d281-63a9-466e-b6f3-66cf3879ee06" providerId="ADAL" clId="{96E4D831-604E-4352-93DB-4109B488C998}" dt="2026-09-25T05:22:36.055" v="1"/>
          <ac:spMkLst>
            <pc:docMk/>
            <pc:sldMk cId="1921399451" sldId="262"/>
            <ac:spMk id="10" creationId="{01E61CA3-6FE8-A6D9-04A8-320C582271FF}"/>
          </ac:spMkLst>
        </pc:spChg>
      </pc:sldChg>
      <pc:sldChg chg="addSp ord">
        <pc:chgData name="Cacamese, Anthony Joseph Jr." userId="9c71d281-63a9-466e-b6f3-66cf3879ee06" providerId="ADAL" clId="{96E4D831-604E-4352-93DB-4109B488C998}" dt="2026-09-25T05:40:22.623" v="9"/>
        <pc:sldMkLst>
          <pc:docMk/>
          <pc:sldMk cId="1852971837" sldId="263"/>
        </pc:sldMkLst>
        <pc:picChg chg="add">
          <ac:chgData name="Cacamese, Anthony Joseph Jr." userId="9c71d281-63a9-466e-b6f3-66cf3879ee06" providerId="ADAL" clId="{96E4D831-604E-4352-93DB-4109B488C998}" dt="2026-09-25T05:23:22.816" v="2"/>
          <ac:picMkLst>
            <pc:docMk/>
            <pc:sldMk cId="1852971837" sldId="263"/>
            <ac:picMk id="4" creationId="{8DB67E72-8D20-B31C-BC47-D98163F6CCF6}"/>
          </ac:picMkLst>
        </pc:picChg>
        <pc:picChg chg="add">
          <ac:chgData name="Cacamese, Anthony Joseph Jr." userId="9c71d281-63a9-466e-b6f3-66cf3879ee06" providerId="ADAL" clId="{96E4D831-604E-4352-93DB-4109B488C998}" dt="2026-09-25T05:24:08.835" v="3"/>
          <ac:picMkLst>
            <pc:docMk/>
            <pc:sldMk cId="1852971837" sldId="263"/>
            <ac:picMk id="6" creationId="{FEBE8E0C-3F81-BF64-ADCD-E4881DC3F9BD}"/>
          </ac:picMkLst>
        </pc:picChg>
        <pc:picChg chg="add">
          <ac:chgData name="Cacamese, Anthony Joseph Jr." userId="9c71d281-63a9-466e-b6f3-66cf3879ee06" providerId="ADAL" clId="{96E4D831-604E-4352-93DB-4109B488C998}" dt="2026-09-25T05:29:32.834" v="4"/>
          <ac:picMkLst>
            <pc:docMk/>
            <pc:sldMk cId="1852971837" sldId="263"/>
            <ac:picMk id="8" creationId="{7C8F6905-E2DB-1618-3C4D-7301433A8A96}"/>
          </ac:picMkLst>
        </pc:picChg>
        <pc:picChg chg="add">
          <ac:chgData name="Cacamese, Anthony Joseph Jr." userId="9c71d281-63a9-466e-b6f3-66cf3879ee06" providerId="ADAL" clId="{96E4D831-604E-4352-93DB-4109B488C998}" dt="2026-09-25T05:33:22.161" v="5"/>
          <ac:picMkLst>
            <pc:docMk/>
            <pc:sldMk cId="1852971837" sldId="263"/>
            <ac:picMk id="12" creationId="{836D1505-A502-A201-5BD5-35A59D888AE6}"/>
          </ac:picMkLst>
        </pc:picChg>
        <pc:picChg chg="add">
          <ac:chgData name="Cacamese, Anthony Joseph Jr." userId="9c71d281-63a9-466e-b6f3-66cf3879ee06" providerId="ADAL" clId="{96E4D831-604E-4352-93DB-4109B488C998}" dt="2026-09-25T05:34:28.989" v="6"/>
          <ac:picMkLst>
            <pc:docMk/>
            <pc:sldMk cId="1852971837" sldId="263"/>
            <ac:picMk id="13" creationId="{0281C962-1C01-8705-039C-303D7A342A2D}"/>
          </ac:picMkLst>
        </pc:picChg>
        <pc:picChg chg="add">
          <ac:chgData name="Cacamese, Anthony Joseph Jr." userId="9c71d281-63a9-466e-b6f3-66cf3879ee06" providerId="ADAL" clId="{96E4D831-604E-4352-93DB-4109B488C998}" dt="2026-09-25T05:38:56.868" v="7"/>
          <ac:picMkLst>
            <pc:docMk/>
            <pc:sldMk cId="1852971837" sldId="263"/>
            <ac:picMk id="19" creationId="{E6BF2AD3-B74A-E8E6-5FB8-E736A6F0F85E}"/>
          </ac:picMkLst>
        </pc:picChg>
        <pc:picChg chg="add">
          <ac:chgData name="Cacamese, Anthony Joseph Jr." userId="9c71d281-63a9-466e-b6f3-66cf3879ee06" providerId="ADAL" clId="{96E4D831-604E-4352-93DB-4109B488C998}" dt="2026-09-25T05:39:29.614" v="8"/>
          <ac:picMkLst>
            <pc:docMk/>
            <pc:sldMk cId="1852971837" sldId="263"/>
            <ac:picMk id="21" creationId="{3728DBEE-0BAA-2694-2C7A-0BF93984E6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826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7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992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53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667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709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160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12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92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321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040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33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370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723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225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894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036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235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828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775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3470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0768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98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27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67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910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6642-3C1E-0C5C-BA9B-926DA9A44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AD0E-B258-1027-F9D5-F47EECFBC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24E7-7EE7-BDA1-E907-039407C9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81A7F-7A01-95CD-9D26-E724424E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9C945-5509-1FCF-ED2E-498D1AEF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5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CBB2F530-90CF-4FD5-A537-DF339B60576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A8ABDAD9-A6B1-46B5-A425-CA0EB2CBE0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0330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3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19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13.xml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13.xml" /><Relationship Id="rId5" Type="http://schemas.openxmlformats.org/officeDocument/2006/relationships/image" Target="../media/image25.jpeg" /><Relationship Id="rId4" Type="http://schemas.openxmlformats.org/officeDocument/2006/relationships/image" Target="../media/image24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 /><Relationship Id="rId3" Type="http://schemas.openxmlformats.org/officeDocument/2006/relationships/image" Target="../media/image27.png" /><Relationship Id="rId7" Type="http://schemas.openxmlformats.org/officeDocument/2006/relationships/image" Target="../media/image22.pn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4.xml" /><Relationship Id="rId6" Type="http://schemas.openxmlformats.org/officeDocument/2006/relationships/image" Target="../media/image30.jpeg" /><Relationship Id="rId5" Type="http://schemas.openxmlformats.org/officeDocument/2006/relationships/image" Target="../media/image29.png" /><Relationship Id="rId4" Type="http://schemas.openxmlformats.org/officeDocument/2006/relationships/image" Target="../media/image28.png" /><Relationship Id="rId9" Type="http://schemas.openxmlformats.org/officeDocument/2006/relationships/image" Target="../media/image3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35BF-CB19-F904-2EDC-9F5A1629FD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CAD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83A05-2CAF-E220-1CAC-F2C5B1C42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Anthony Cacamese</a:t>
            </a:r>
          </a:p>
        </p:txBody>
      </p:sp>
    </p:spTree>
    <p:extLst>
      <p:ext uri="{BB962C8B-B14F-4D97-AF65-F5344CB8AC3E}">
        <p14:creationId xmlns:p14="http://schemas.microsoft.com/office/powerpoint/2010/main" val="662887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F74F6AF-CB7F-7981-A684-2A654ED8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/>
          <a:lstStyle/>
          <a:p>
            <a:r>
              <a:rPr lang="en-US" dirty="0"/>
              <a:t>Belt Cover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605E81-6B49-2F1A-51A0-99F9DA56F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2873" y="3073334"/>
            <a:ext cx="2230116" cy="2779456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B0C544-AC67-6032-7199-F1D37562B4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" r="131"/>
          <a:stretch/>
        </p:blipFill>
        <p:spPr>
          <a:xfrm>
            <a:off x="6575416" y="10"/>
            <a:ext cx="5616584" cy="6857990"/>
          </a:xfrm>
          <a:prstGeom prst="rect">
            <a:avLst/>
          </a:prstGeom>
          <a:noFill/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7173A43-AC76-3482-EF8C-24C337B61C4E}"/>
              </a:ext>
            </a:extLst>
          </p:cNvPr>
          <p:cNvSpPr txBox="1">
            <a:spLocks/>
          </p:cNvSpPr>
          <p:nvPr/>
        </p:nvSpPr>
        <p:spPr>
          <a:xfrm>
            <a:off x="239708" y="1266444"/>
            <a:ext cx="62332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Summer 2026</a:t>
            </a:r>
          </a:p>
          <a:p>
            <a:pPr marL="0" indent="0">
              <a:buNone/>
            </a:pPr>
            <a:r>
              <a:rPr lang="en-US" dirty="0"/>
              <a:t>Designed to cover belt rotation mechanism for stepper motor in knee rehab device: prevent loose wires in the rear compartment from getting tangled in the belt.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6E328E-BE0F-C54A-78DE-B25A2228B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2" r="4606"/>
          <a:stretch>
            <a:fillRect/>
          </a:stretch>
        </p:blipFill>
        <p:spPr>
          <a:xfrm>
            <a:off x="317773" y="3073334"/>
            <a:ext cx="3714367" cy="34291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0A7E496-03FF-7237-9E50-3DB64A87BDE6}"/>
              </a:ext>
            </a:extLst>
          </p:cNvPr>
          <p:cNvSpPr txBox="1"/>
          <p:nvPr/>
        </p:nvSpPr>
        <p:spPr>
          <a:xfrm>
            <a:off x="5017168" y="9204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F176A38-A2C5-165D-0705-C332E7EF88D6}"/>
              </a:ext>
            </a:extLst>
          </p:cNvPr>
          <p:cNvSpPr txBox="1">
            <a:spLocks/>
          </p:cNvSpPr>
          <p:nvPr/>
        </p:nvSpPr>
        <p:spPr>
          <a:xfrm>
            <a:off x="4242873" y="6003918"/>
            <a:ext cx="2121832" cy="650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3D Printed</a:t>
            </a:r>
          </a:p>
        </p:txBody>
      </p:sp>
    </p:spTree>
    <p:extLst>
      <p:ext uri="{BB962C8B-B14F-4D97-AF65-F5344CB8AC3E}">
        <p14:creationId xmlns:p14="http://schemas.microsoft.com/office/powerpoint/2010/main" val="201460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843D-CCFA-DA0B-BDF5-81EF6314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0CDDC39-568C-6046-A4A0-F3632E1E6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/>
          <a:lstStyle/>
          <a:p>
            <a:r>
              <a:rPr lang="en-US" dirty="0"/>
              <a:t>Seat Mechanical Support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51CAE3D3-03A5-F0F1-A918-D9A3018E45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9708" y="1266444"/>
                <a:ext cx="6233281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Summer 2026</a:t>
                </a:r>
              </a:p>
              <a:p>
                <a:pPr marL="0" indent="0">
                  <a:buNone/>
                </a:pPr>
                <a:r>
                  <a:rPr lang="en-US" dirty="0"/>
                  <a:t>The knee rehab device includes an adjustable seat which can rotate 120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 The weight is supported by this plate with ball bearings attached.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51CAE3D3-03A5-F0F1-A918-D9A3018E4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08" y="1266444"/>
                <a:ext cx="6233281" cy="1655762"/>
              </a:xfrm>
              <a:prstGeom prst="rect">
                <a:avLst/>
              </a:prstGeom>
              <a:blipFill>
                <a:blip r:embed="rId2"/>
                <a:stretch>
                  <a:fillRect l="-782" t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2DFA2BF2-4DEC-3FB5-C19A-8FDA0E1B9C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507" t="6626" b="5636"/>
          <a:stretch>
            <a:fillRect/>
          </a:stretch>
        </p:blipFill>
        <p:spPr>
          <a:xfrm>
            <a:off x="6472989" y="0"/>
            <a:ext cx="5616584" cy="6858000"/>
          </a:xfrm>
          <a:prstGeom prst="rect">
            <a:avLst/>
          </a:prstGeom>
          <a:blipFill>
            <a:blip r:embed="rId4">
              <a:alphaModFix amt="80000"/>
            </a:blip>
            <a:stretch>
              <a:fillRect/>
            </a:stretch>
          </a:blip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A4CADD-96C0-CCC1-55B3-F2CD4EEF7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08" y="3110163"/>
            <a:ext cx="4521364" cy="34951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1F5AB6-10F6-F779-A688-2EC953548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103" y="2536865"/>
            <a:ext cx="2122449" cy="2103448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E6DEA9C1-2652-EF0A-6089-03D6755EB4E9}"/>
              </a:ext>
            </a:extLst>
          </p:cNvPr>
          <p:cNvSpPr txBox="1">
            <a:spLocks/>
          </p:cNvSpPr>
          <p:nvPr/>
        </p:nvSpPr>
        <p:spPr>
          <a:xfrm>
            <a:off x="4863499" y="4857750"/>
            <a:ext cx="1711917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Created technical drawing, then cut in machine shop.</a:t>
            </a:r>
            <a:endParaRPr lang="en-US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2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664A-A43C-2E26-8247-47B627B9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2F64126-16C0-B032-5028-D2229FCC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/>
          <a:lstStyle/>
          <a:p>
            <a:r>
              <a:rPr lang="en-US" dirty="0"/>
              <a:t>Seat Tracks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5F924F41-E091-CC72-F1BD-AA0060525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9708" y="1266444"/>
                <a:ext cx="6233281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Summer 2026</a:t>
                </a:r>
              </a:p>
              <a:p>
                <a:pPr marL="0" indent="0">
                  <a:buNone/>
                </a:pPr>
                <a:r>
                  <a:rPr lang="en-US" dirty="0"/>
                  <a:t>Support 120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of rotation controlled by stepper motor.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5F924F41-E091-CC72-F1BD-AA0060525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08" y="1266444"/>
                <a:ext cx="6233281" cy="1655762"/>
              </a:xfrm>
              <a:prstGeom prst="rect">
                <a:avLst/>
              </a:prstGeom>
              <a:blipFill>
                <a:blip r:embed="rId2"/>
                <a:stretch>
                  <a:fillRect l="-782" t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7F8466D-84F4-6DF8-B277-F7FB960754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" t="-33536" r="4855"/>
          <a:stretch>
            <a:fillRect/>
          </a:stretch>
        </p:blipFill>
        <p:spPr>
          <a:xfrm>
            <a:off x="6575416" y="0"/>
            <a:ext cx="5616584" cy="6858000"/>
          </a:xfrm>
          <a:prstGeom prst="rect">
            <a:avLst/>
          </a:prstGeom>
          <a:blipFill>
            <a:blip r:embed="rId4">
              <a:alphaModFix amt="80000"/>
            </a:blip>
            <a:stretch>
              <a:fillRect/>
            </a:stretch>
          </a:blipFill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24F88D65-9857-2BA4-2670-BBBE8AB7EA21}"/>
              </a:ext>
            </a:extLst>
          </p:cNvPr>
          <p:cNvSpPr txBox="1">
            <a:spLocks/>
          </p:cNvSpPr>
          <p:nvPr/>
        </p:nvSpPr>
        <p:spPr>
          <a:xfrm>
            <a:off x="6733862" y="343939"/>
            <a:ext cx="514036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See entire assembly shown from below including axis of rotation. Brackets are screwed down while plate with ball bearings is free to travel along track.</a:t>
            </a:r>
            <a:endParaRPr lang="en-US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A0951E-EECA-79C2-8356-0A3CC93B2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41" y="2258286"/>
            <a:ext cx="3263677" cy="29061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4DEF53-A734-CB09-D90A-3C2F023F7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4" r="11353"/>
          <a:stretch>
            <a:fillRect/>
          </a:stretch>
        </p:blipFill>
        <p:spPr>
          <a:xfrm>
            <a:off x="3674823" y="2280033"/>
            <a:ext cx="2768187" cy="2862638"/>
          </a:xfrm>
          <a:prstGeom prst="rect">
            <a:avLst/>
          </a:prstGeom>
        </p:spPr>
      </p:pic>
      <p:sp>
        <p:nvSpPr>
          <p:cNvPr id="25" name="Subtitle 2">
            <a:extLst>
              <a:ext uri="{FF2B5EF4-FFF2-40B4-BE49-F238E27FC236}">
                <a16:creationId xmlns:a16="http://schemas.microsoft.com/office/drawing/2014/main" id="{B172BA85-DD71-D0B5-D6A4-B97B21970866}"/>
              </a:ext>
            </a:extLst>
          </p:cNvPr>
          <p:cNvSpPr txBox="1">
            <a:spLocks/>
          </p:cNvSpPr>
          <p:nvPr/>
        </p:nvSpPr>
        <p:spPr>
          <a:xfrm>
            <a:off x="278741" y="5164418"/>
            <a:ext cx="6233281" cy="554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</a:rPr>
              <a:t>Lower parts and corresponding upper parts.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8758550-7505-FD6F-BC0F-6FC0DD7B69FD}"/>
              </a:ext>
            </a:extLst>
          </p:cNvPr>
          <p:cNvSpPr txBox="1">
            <a:spLocks/>
          </p:cNvSpPr>
          <p:nvPr/>
        </p:nvSpPr>
        <p:spPr>
          <a:xfrm>
            <a:off x="275932" y="5837593"/>
            <a:ext cx="6233281" cy="554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</a:rPr>
              <a:t>3D Printed using polycarbonate (iterations ongoing)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0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4028-6E9D-0324-88CC-6C6E103B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C1E4B10-F8ED-F1EA-0926-705072CD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/>
          <a:lstStyle/>
          <a:p>
            <a:r>
              <a:rPr lang="en-US" dirty="0"/>
              <a:t>Seat Attachment System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0E54E3F-7443-57EC-316F-B8FE1E76D0D5}"/>
              </a:ext>
            </a:extLst>
          </p:cNvPr>
          <p:cNvSpPr txBox="1">
            <a:spLocks/>
          </p:cNvSpPr>
          <p:nvPr/>
        </p:nvSpPr>
        <p:spPr>
          <a:xfrm>
            <a:off x="239708" y="1266444"/>
            <a:ext cx="62332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Summer 2026</a:t>
            </a:r>
          </a:p>
          <a:p>
            <a:pPr marL="0" indent="0">
              <a:buNone/>
            </a:pPr>
            <a:r>
              <a:rPr lang="en-US" dirty="0"/>
              <a:t>Allows for mounting of driver (shown) and stepper motor (not shown) on the back of the seat to enable powered swivel.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27FBF-B607-9DC0-78C4-6CA913E4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73" y="2934238"/>
            <a:ext cx="5616583" cy="3495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0BAA60-D208-99E3-B4D1-331DB05FB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089" y="205917"/>
            <a:ext cx="4125504" cy="16674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6958B7-45B8-CA1D-015F-B8652C074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136" y="3078616"/>
            <a:ext cx="2517410" cy="3351360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BEF626D2-0D56-7F0B-1D29-4ADE338671A4}"/>
              </a:ext>
            </a:extLst>
          </p:cNvPr>
          <p:cNvSpPr txBox="1">
            <a:spLocks/>
          </p:cNvSpPr>
          <p:nvPr/>
        </p:nvSpPr>
        <p:spPr>
          <a:xfrm>
            <a:off x="6930930" y="1924170"/>
            <a:ext cx="500405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Assembly includes triangles that attach directly to the back corners of the seat and a bar to hold the driver and motor.</a:t>
            </a:r>
          </a:p>
        </p:txBody>
      </p:sp>
    </p:spTree>
    <p:extLst>
      <p:ext uri="{BB962C8B-B14F-4D97-AF65-F5344CB8AC3E}">
        <p14:creationId xmlns:p14="http://schemas.microsoft.com/office/powerpoint/2010/main" val="312989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0B9BD-BE56-0375-733A-7278CF96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3A1DD40-DB5E-5E03-1CA4-97C398F9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>
            <a:normAutofit/>
          </a:bodyPr>
          <a:lstStyle/>
          <a:p>
            <a:r>
              <a:rPr lang="en-US" dirty="0"/>
              <a:t>Power Supply box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75A670-BD39-E77A-2DBB-1F598863CA10}"/>
              </a:ext>
            </a:extLst>
          </p:cNvPr>
          <p:cNvSpPr txBox="1">
            <a:spLocks/>
          </p:cNvSpPr>
          <p:nvPr/>
        </p:nvSpPr>
        <p:spPr>
          <a:xfrm>
            <a:off x="239708" y="1266444"/>
            <a:ext cx="62332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Spring-Summer 2026</a:t>
            </a:r>
          </a:p>
          <a:p>
            <a:pPr marL="0" indent="0">
              <a:buNone/>
            </a:pPr>
            <a:r>
              <a:rPr lang="en-US" dirty="0"/>
              <a:t>Enclosure to integrate 54V PSU into knee rehab device. Components chosen from online vendors and imported or manually modeled.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D7BDEF-147C-AC13-E252-53FE60525DCC}"/>
              </a:ext>
            </a:extLst>
          </p:cNvPr>
          <p:cNvSpPr txBox="1"/>
          <p:nvPr/>
        </p:nvSpPr>
        <p:spPr>
          <a:xfrm>
            <a:off x="5017168" y="9204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09917F0E-77B6-4288-A356-8D4FEA898B20}"/>
              </a:ext>
            </a:extLst>
          </p:cNvPr>
          <p:cNvSpPr txBox="1">
            <a:spLocks/>
          </p:cNvSpPr>
          <p:nvPr/>
        </p:nvSpPr>
        <p:spPr>
          <a:xfrm>
            <a:off x="3636655" y="5612290"/>
            <a:ext cx="2121832" cy="650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Assembled and wired IRL (x2)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66B0B3A-431C-9667-2321-142BB76927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65" r="1465"/>
          <a:stretch/>
        </p:blipFill>
        <p:spPr>
          <a:prstGeom prst="rect">
            <a:avLst/>
          </a:prstGeom>
          <a:blipFill>
            <a:blip r:embed="rId3">
              <a:alphaModFix amt="80000"/>
            </a:blip>
            <a:stretch>
              <a:fillRect/>
            </a:stretch>
          </a:blip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8A07FC-D056-8C39-2FC5-DD75B3D99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31" y="3316626"/>
            <a:ext cx="2121831" cy="2065399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7C14DADF-9485-5792-9701-EB38BB70601B}"/>
              </a:ext>
            </a:extLst>
          </p:cNvPr>
          <p:cNvSpPr txBox="1">
            <a:spLocks/>
          </p:cNvSpPr>
          <p:nvPr/>
        </p:nvSpPr>
        <p:spPr>
          <a:xfrm>
            <a:off x="4154631" y="2666038"/>
            <a:ext cx="2121832" cy="650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HAMMOND Enclosure used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5FCBD4-84F5-C828-2D61-095D80C335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4" t="7623" r="5150" b="4714"/>
          <a:stretch>
            <a:fillRect/>
          </a:stretch>
        </p:blipFill>
        <p:spPr>
          <a:xfrm>
            <a:off x="717685" y="2922206"/>
            <a:ext cx="2816543" cy="365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99AC-0D6A-88BF-24C9-A68A6BA8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89FB783-1E3A-8CC8-A224-BA37D70C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579681"/>
          </a:xfrm>
        </p:spPr>
        <p:txBody>
          <a:bodyPr>
            <a:normAutofit/>
          </a:bodyPr>
          <a:lstStyle/>
          <a:p>
            <a:r>
              <a:rPr lang="en-US" dirty="0"/>
              <a:t>Power Button box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7D06D5B-E5D1-BF65-F3E1-3370D9DF5143}"/>
              </a:ext>
            </a:extLst>
          </p:cNvPr>
          <p:cNvSpPr txBox="1">
            <a:spLocks/>
          </p:cNvSpPr>
          <p:nvPr/>
        </p:nvSpPr>
        <p:spPr>
          <a:xfrm>
            <a:off x="239708" y="1266444"/>
            <a:ext cx="62332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Spring-Summer 2026</a:t>
            </a:r>
          </a:p>
          <a:p>
            <a:pPr marL="0" indent="0">
              <a:buNone/>
            </a:pPr>
            <a:r>
              <a:rPr lang="en-US" dirty="0"/>
              <a:t>Enclosure to support on/off functionality for device as well as detachable power cord. Integrated connection to Power Supply Boxes.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0A91CE-D745-1BE5-09C9-1A3B86292BFC}"/>
              </a:ext>
            </a:extLst>
          </p:cNvPr>
          <p:cNvSpPr txBox="1"/>
          <p:nvPr/>
        </p:nvSpPr>
        <p:spPr>
          <a:xfrm>
            <a:off x="5017168" y="9204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CD3EE2A-5EA7-B171-A008-A30CAC0E0B90}"/>
              </a:ext>
            </a:extLst>
          </p:cNvPr>
          <p:cNvSpPr txBox="1">
            <a:spLocks/>
          </p:cNvSpPr>
          <p:nvPr/>
        </p:nvSpPr>
        <p:spPr>
          <a:xfrm>
            <a:off x="3636655" y="5612290"/>
            <a:ext cx="2121832" cy="650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Assembled and wired IRL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72155AE-69D4-E231-91F6-DAA7F6B96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300" r="9300"/>
          <a:stretch/>
        </p:blipFill>
        <p:spPr>
          <a:prstGeom prst="rect">
            <a:avLst/>
          </a:prstGeom>
          <a:blipFill>
            <a:blip r:embed="rId3">
              <a:alphaModFix amt="80000"/>
            </a:blip>
            <a:stretch>
              <a:fillRect/>
            </a:stretch>
          </a:blip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73F74C-43B1-414A-0963-AF8CD7894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3" t="7875" r="4081"/>
          <a:stretch>
            <a:fillRect/>
          </a:stretch>
        </p:blipFill>
        <p:spPr>
          <a:xfrm>
            <a:off x="3443875" y="2507279"/>
            <a:ext cx="2891833" cy="30245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3E85F2-9729-A84A-2736-2AA12F189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6" t="1949" r="10635" b="7068"/>
          <a:stretch>
            <a:fillRect/>
          </a:stretch>
        </p:blipFill>
        <p:spPr>
          <a:xfrm>
            <a:off x="507352" y="2922206"/>
            <a:ext cx="2216020" cy="35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9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4762-734D-7CF4-AB87-DF8BF07A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E8E0C-3F81-BF64-ADCD-E4881DC3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" t="8421" r="4058" b="3002"/>
          <a:stretch>
            <a:fillRect/>
          </a:stretch>
        </p:blipFill>
        <p:spPr>
          <a:xfrm>
            <a:off x="189929" y="1944691"/>
            <a:ext cx="3199155" cy="2140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8F6905-E2DB-1618-3C4D-7301433A8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1" y="4722157"/>
            <a:ext cx="2533755" cy="1513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B67E72-8D20-B31C-BC47-D98163F6C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16" y="2995580"/>
            <a:ext cx="3670869" cy="161970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CADFB5C6-0BF5-FD29-05C6-C52E8D0620FC}"/>
              </a:ext>
            </a:extLst>
          </p:cNvPr>
          <p:cNvSpPr txBox="1">
            <a:spLocks/>
          </p:cNvSpPr>
          <p:nvPr/>
        </p:nvSpPr>
        <p:spPr>
          <a:xfrm>
            <a:off x="3128187" y="4722157"/>
            <a:ext cx="296781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Modeled the wheels used in device for incorporation into master assembly.</a:t>
            </a:r>
          </a:p>
          <a:p>
            <a:pPr marL="0" indent="0">
              <a:buNone/>
            </a:pPr>
            <a:r>
              <a:rPr lang="en-US" dirty="0"/>
              <a:t>&lt;- Actual product image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6D1505-A502-A201-5BD5-35A59D888A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994" y="877139"/>
            <a:ext cx="2118759" cy="1815261"/>
          </a:xfrm>
          <a:prstGeom prst="rect">
            <a:avLst/>
          </a:prstGeom>
        </p:spPr>
      </p:pic>
      <p:pic>
        <p:nvPicPr>
          <p:cNvPr id="13" name="Picture 12" descr="Fan Tubeaxial 24VDC Square - 60mm L x 60mm H Vapo-Bearing™ 30.4 CFM (0.851m³/min) 2 Wire Leads">
            <a:extLst>
              <a:ext uri="{FF2B5EF4-FFF2-40B4-BE49-F238E27FC236}">
                <a16:creationId xmlns:a16="http://schemas.microsoft.com/office/drawing/2014/main" id="{0281C962-1C01-8705-039C-303D7A342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926" y="1371756"/>
            <a:ext cx="1550376" cy="1550376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172514C-3259-F98C-3284-4DC62130A580}"/>
              </a:ext>
            </a:extLst>
          </p:cNvPr>
          <p:cNvSpPr txBox="1">
            <a:spLocks/>
          </p:cNvSpPr>
          <p:nvPr/>
        </p:nvSpPr>
        <p:spPr>
          <a:xfrm>
            <a:off x="7001395" y="877139"/>
            <a:ext cx="296781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Custom fan holders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8BAA6-48C4-C1AE-417E-0EE6EBEC84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43" t="12899" r="18299" b="68515"/>
          <a:stretch>
            <a:fillRect/>
          </a:stretch>
        </p:blipFill>
        <p:spPr>
          <a:xfrm>
            <a:off x="8539944" y="1371756"/>
            <a:ext cx="1895418" cy="12619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BF2AD3-B74A-E8E6-5FB8-E736A6F0F8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985" y="4224259"/>
            <a:ext cx="3120146" cy="2506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28DBEE-0BAA-2694-2C7A-0BF93984E6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97" y="3140629"/>
            <a:ext cx="3182356" cy="2140858"/>
          </a:xfrm>
          <a:prstGeom prst="rect">
            <a:avLst/>
          </a:prstGeom>
        </p:spPr>
      </p:pic>
      <p:sp>
        <p:nvSpPr>
          <p:cNvPr id="23" name="Subtitle 2">
            <a:extLst>
              <a:ext uri="{FF2B5EF4-FFF2-40B4-BE49-F238E27FC236}">
                <a16:creationId xmlns:a16="http://schemas.microsoft.com/office/drawing/2014/main" id="{F17528AF-1DE1-E6B8-D00B-CBD0DF229512}"/>
              </a:ext>
            </a:extLst>
          </p:cNvPr>
          <p:cNvSpPr txBox="1">
            <a:spLocks/>
          </p:cNvSpPr>
          <p:nvPr/>
        </p:nvSpPr>
        <p:spPr>
          <a:xfrm>
            <a:off x="9696950" y="3140629"/>
            <a:ext cx="230512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Original Watch Face design</a:t>
            </a:r>
          </a:p>
        </p:txBody>
      </p:sp>
    </p:spTree>
    <p:extLst>
      <p:ext uri="{BB962C8B-B14F-4D97-AF65-F5344CB8AC3E}">
        <p14:creationId xmlns:p14="http://schemas.microsoft.com/office/powerpoint/2010/main" val="1852971837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92</TotalTime>
  <Words>282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Editorial</vt:lpstr>
      <vt:lpstr>CAD Portfolio</vt:lpstr>
      <vt:lpstr>Belt Cover</vt:lpstr>
      <vt:lpstr>Seat Mechanical Support</vt:lpstr>
      <vt:lpstr>Seat Tracks</vt:lpstr>
      <vt:lpstr>Seat Attachment System</vt:lpstr>
      <vt:lpstr>Power Supply box</vt:lpstr>
      <vt:lpstr>Power Button box</vt:lpstr>
      <vt:lpstr>Misc.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 Portfolio</dc:title>
  <dc:creator>Cacamese, Anthony Joseph Jr.</dc:creator>
  <cp:lastModifiedBy>Cacamese, Anthony Joseph Jr.</cp:lastModifiedBy>
  <cp:revision>2</cp:revision>
  <dcterms:created xsi:type="dcterms:W3CDTF">2026-09-25T04:07:37Z</dcterms:created>
  <dcterms:modified xsi:type="dcterms:W3CDTF">2026-09-25T05:48:47Z</dcterms:modified>
</cp:coreProperties>
</file>